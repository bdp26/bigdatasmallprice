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ZHAW · DS23T PM4 · BIG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3B82F6"/>
                </a:solidFill>
                <a:latin typeface="Calibri"/>
              </a:rPr>
              <a:t>BigData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6B6D4"/>
                </a:solidFill>
                <a:latin typeface="Calibri"/>
              </a:rPr>
              <a:t>SmallPrice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Dynamische Strompreisprognose für Winterthur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mittels XGBoost, ENTSO-E &amp; Echtzeit-Wetterdaten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783080"/>
            <a:ext cx="3474720" cy="347472"/>
          </a:xfrm>
          <a:prstGeom prst="rect">
            <a:avLst/>
          </a:prstGeom>
          <a:solidFill>
            <a:srgbClr val="1A2236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Ryan Bachmann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240280"/>
            <a:ext cx="3474720" cy="347472"/>
          </a:xfrm>
          <a:prstGeom prst="rect">
            <a:avLst/>
          </a:prstGeom>
          <a:solidFill>
            <a:srgbClr val="1A2236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Miguel Dinis Silva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697480"/>
            <a:ext cx="3474720" cy="347472"/>
          </a:xfrm>
          <a:prstGeom prst="rect">
            <a:avLst/>
          </a:prstGeom>
          <a:solidFill>
            <a:srgbClr val="1A2236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Gian Ruchti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Tech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520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▸  Apache Airflow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9044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▸  TimescaleDB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28853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▸  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6725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▸  FastAPI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0566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▸ 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Die Schweizer Energiewende schafft neue Anforderungen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697480" cy="2560320"/>
          </a:xfrm>
          <a:prstGeom prst="rect">
            <a:avLst/>
          </a:prstGeom>
          <a:solidFill>
            <a:srgbClr val="1A223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9572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Ab 2026 gesetzlich verpflichtend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Netzbetreiber müssen Endkunden dynamische Stromtarife anbieten – Preise reagieren stündlich auf Markt und Einspeisung.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828800"/>
            <a:ext cx="2697480" cy="2560320"/>
          </a:xfrm>
          <a:prstGeom prst="rect">
            <a:avLst/>
          </a:prstGeom>
          <a:solidFill>
            <a:srgbClr val="1A2236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96596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39572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Volatile erneuerbare Energie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92608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PV und Wind führen zu starken Preisschwankungen. Negative Preise werden häufiger.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828800"/>
            <a:ext cx="2697480" cy="2560320"/>
          </a:xfrm>
          <a:prstGeom prst="rect">
            <a:avLst/>
          </a:prstGeom>
          <a:solidFill>
            <a:srgbClr val="1A223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96596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39572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Enormes Sparpotenzial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92608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Haushalte können durch zeitliches Verschieben von Verbrauch signifikant Kosten sparen.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53144" y="1828800"/>
            <a:ext cx="2697480" cy="2560320"/>
          </a:xfrm>
          <a:prstGeom prst="rect">
            <a:avLst/>
          </a:prstGeom>
          <a:solidFill>
            <a:srgbClr val="1A2236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196596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239572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Keine zugängliche Prognose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292608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Es fehlt ein datengetriebenes Prognose­system für dynamische Strompreise für Endkunden.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FRAGESTELLUNG &amp; 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Was wollten wir erreichen?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0800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11155680" cy="1463040"/>
          </a:xfrm>
          <a:prstGeom prst="rect">
            <a:avLst/>
          </a:prstGeom>
          <a:solidFill>
            <a:srgbClr val="062A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1">
                <a:solidFill>
                  <a:srgbClr val="FFFFFF"/>
                </a:solidFill>
                <a:latin typeface="Calibri"/>
              </a:rPr>
              <a:t>Wie genau lassen sich kurzfristige Strompreise für den Standort Winterthur durch die Kombination von Day-Ahead-Preisen und meteorologischen Echtzeitdaten prognostizieren?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337560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Automatisierte Datenpipeline für ENTSO-E &amp; Wetterdaten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50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685032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Model A: Netzlast-Prognose (kWh) → Netzpreiskomponente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32504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032504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Model B: EPEX Day-Ahead Preisprognose (€/MWh)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79976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379976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Vollständige Tarifsberechnung in Rp./kWh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3756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337560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Quantitative Evaluation mit echten Marktdaten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6850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685032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REST API mit JWT-Authentifizierung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032504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032504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Interaktives Dashboard für Endkunden &amp; Admins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379976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379976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Handlungsempfehlungen via Ampelsystem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SYSTEM ARCHITEKTUR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End-to-End Big Data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70332" y="1828800"/>
            <a:ext cx="1463040" cy="1051560"/>
          </a:xfrm>
          <a:prstGeom prst="rect">
            <a:avLst/>
          </a:prstGeom>
          <a:solidFill>
            <a:srgbClr val="1A223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0332" y="1920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" y="2240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Datenquellen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" y="24871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6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0804" y="21762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3A5A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34540" y="1828800"/>
            <a:ext cx="1463040" cy="1051560"/>
          </a:xfrm>
          <a:prstGeom prst="rect">
            <a:avLst/>
          </a:prstGeom>
          <a:solidFill>
            <a:srgbClr val="1A2236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4540" y="1920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4540" y="2240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ETL / Airflow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4540" y="24871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tägl. 06:00 UTC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5012" y="21762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3A5A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98748" y="1828800"/>
            <a:ext cx="1463040" cy="1051560"/>
          </a:xfrm>
          <a:prstGeom prst="rect">
            <a:avLst/>
          </a:prstGeom>
          <a:solidFill>
            <a:srgbClr val="1A223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8748" y="1920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🗄️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8748" y="2240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TimescaleDB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8748" y="24871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Mio. Datenpunkte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9220" y="21762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3A5A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62956" y="1828800"/>
            <a:ext cx="1463040" cy="1051560"/>
          </a:xfrm>
          <a:prstGeom prst="rect">
            <a:avLst/>
          </a:prstGeom>
          <a:solidFill>
            <a:srgbClr val="1A2236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2956" y="1920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2956" y="2240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Feature Eng.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2956" y="24871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Parquet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3428" y="21762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3A5A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27164" y="1828800"/>
            <a:ext cx="1463040" cy="1051560"/>
          </a:xfrm>
          <a:prstGeom prst="rect">
            <a:avLst/>
          </a:prstGeom>
          <a:solidFill>
            <a:srgbClr val="1A223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7164" y="1920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7164" y="2240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7164" y="24871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Model A +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17636" y="21762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3A5A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91372" y="1828800"/>
            <a:ext cx="1463040" cy="1051560"/>
          </a:xfrm>
          <a:prstGeom prst="rect">
            <a:avLst/>
          </a:prstGeom>
          <a:solidFill>
            <a:srgbClr val="1A2236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1372" y="1920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91372" y="2240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91372" y="24871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REST + JWT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1844" y="217627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A3A5A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55580" y="1828800"/>
            <a:ext cx="1463040" cy="1051560"/>
          </a:xfrm>
          <a:prstGeom prst="rect">
            <a:avLst/>
          </a:prstGeom>
          <a:solidFill>
            <a:srgbClr val="1A223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55580" y="1920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55580" y="22402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55580" y="248716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User + Admin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291840"/>
            <a:ext cx="5303520" cy="1371600"/>
          </a:xfrm>
          <a:prstGeom prst="rect">
            <a:avLst/>
          </a:prstGeom>
          <a:solidFill>
            <a:srgbClr val="1A223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3429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🐳  Docker Compose Stack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37947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Airflow (Scheduler + Webserver), TimescaleDB, FastAPI, Frontend – alles containerisiert und reproduzierbar.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291840"/>
            <a:ext cx="5394960" cy="1371600"/>
          </a:xfrm>
          <a:prstGeom prst="rect">
            <a:avLst/>
          </a:prstGeom>
          <a:solidFill>
            <a:srgbClr val="1A223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📦  Parquet / Chronologischer Split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7947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Train / Val / Test chronologisch getrennt. Modelle täglich neu trainiert und mit Zeitstempel versioniert.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DATEN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Sechs heterogene Datenquellen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⚡  ENTSO-E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Day-Ahead-Preise, Netzlast, Erzeugung, grenzüberschreitende Flüsse · &lt;400 API-Calls/Tag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5112" y="182880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9659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🌤️  Open-Meteo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33172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Temperatur, Globalstrahlung, Bewölkung, Wind, Niederschlag · 10 000 Calls/Tag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4" y="182880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19659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🏙️  Stadtwerk Winterthur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33172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Reale Netzlast-Zeitreihe &amp; PV-Einspeisung für Winterthur (Grundlage Model 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🏢  EKZ / CKW / Groupe 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Dynamische Stromtarife der Schweizer Netzbetreiber als Evaluationsbasis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5112" y="333756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3474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💧  BAFU Hydrologie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384048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Wasserpegel von Flüssen &amp; Seen → Indikator für Wasserkraft-Einspeisung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333756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3474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📊  Gesamtvolumen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84048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Mehrere Millionen Datenpunkte in TimescaleDB mit automatischer Komprimierung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METHODE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Feature Engineering &amp; Modellierung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94960" cy="2286000"/>
          </a:xfrm>
          <a:prstGeom prst="rect">
            <a:avLst/>
          </a:prstGeom>
          <a:solidFill>
            <a:srgbClr val="1A2236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📐  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23160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Lag-Variablen: 1h, 2h, 3h, 6h, 12h, 24h, 48h, 168h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7063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70632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Gleitende Mittelwerte (rolling mean / std)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18104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118104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Zeitfeatures: Stunde, Wochentag, Monat, Feiertag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65576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465576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Wetter × Preis Interaktionen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13048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813048"/>
            <a:ext cx="4773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Wasserkraft-Indikator (BAFU-Pegel)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51960"/>
            <a:ext cx="5394960" cy="1371600"/>
          </a:xfrm>
          <a:prstGeom prst="rect">
            <a:avLst/>
          </a:prstGeom>
          <a:solidFill>
            <a:srgbClr val="1A223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🔀  Train / Val / Test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Chronologischer Split – kein Data Leakage. Early Stopping mit Validierungsset. Modelle täglich neu trainiert und versioniert gespeichert.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828800"/>
            <a:ext cx="5486400" cy="1463040"/>
          </a:xfrm>
          <a:prstGeom prst="rect">
            <a:avLst/>
          </a:prstGeom>
          <a:solidFill>
            <a:srgbClr val="1A223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🤖  Model A – Netzlast (kWh)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3774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Ziel: net_load_kwh  (Bruttolast − PV-Einspeisung)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67004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XGBRegressor · depth=7 · 300 trees · early stopping · min_child=3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429000"/>
            <a:ext cx="5486400" cy="1463040"/>
          </a:xfrm>
          <a:prstGeom prst="rect">
            <a:avLst/>
          </a:prstGeom>
          <a:solidFill>
            <a:srgbClr val="1A223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566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🤖  Model B – EPEX-Preis (€/MWh)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97763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Ziel: price_eur_mwh  (Day-Ahead EPEX Spotmarkt)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27024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XGBRegressor · depth=5 · L2=2.0 · min_child=5 · early stopping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5029200"/>
            <a:ext cx="5486400" cy="1097280"/>
          </a:xfrm>
          <a:prstGeom prst="rect">
            <a:avLst/>
          </a:prstGeom>
          <a:solidFill>
            <a:srgbClr val="1A223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5166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💰  Tarif­formel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577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Model A → Netzpreis  ·  Model B → Energiepreis  →  Gesamttarif in Rp./kWh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Ergebnisse – Modellvergleich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94960" cy="4114800"/>
          </a:xfrm>
          <a:prstGeom prst="rect">
            <a:avLst/>
          </a:prstGeom>
          <a:solidFill>
            <a:srgbClr val="1A223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Model B – EPEX Preis (€/MWh)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Test-Set Evaluation  ·  MAPE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Naive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898648"/>
            <a:ext cx="3200400" cy="16459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37360" y="2898648"/>
            <a:ext cx="3200400" cy="1645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78892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23.0 %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Linear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3355848"/>
            <a:ext cx="3200400" cy="16459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37360" y="3355848"/>
            <a:ext cx="128016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324612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 9.2 %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XGBoost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3813048"/>
            <a:ext cx="3200400" cy="16459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37360" y="3813048"/>
            <a:ext cx="1472184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370332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10.6 %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788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MAPE (niedriger = besser)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80560"/>
            <a:ext cx="5029200" cy="1270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XGBoost  MAE = 10.0 €/MWh  ·  RMSE = 20.4 €/MWh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Verbesserung gegenüber Naive-Baseline:  ×2.2 besser (MAPE)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828800"/>
            <a:ext cx="5486400" cy="4114800"/>
          </a:xfrm>
          <a:prstGeom prst="rect">
            <a:avLst/>
          </a:prstGeom>
          <a:solidFill>
            <a:srgbClr val="1A223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Model A – Netzlast (kWh)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331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Test-Set Evaluation  ·  MAPE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78892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Naive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2898648"/>
            <a:ext cx="3200400" cy="16459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06640" y="2898648"/>
            <a:ext cx="3200400" cy="1645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0" y="278892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16.7 %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24612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Linear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3355848"/>
            <a:ext cx="3200400" cy="16459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6640" y="3355848"/>
            <a:ext cx="384048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0" y="324612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 2.05 %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70332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XGBoost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3813048"/>
            <a:ext cx="3200400" cy="16459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06640" y="3813048"/>
            <a:ext cx="288036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0" y="370332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 1.51 %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17880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MAPE (niedriger = besser)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480560"/>
            <a:ext cx="5029200" cy="12700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4617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XGBoost  MAE = 217 kWh  ·  RMSE = 301 kWh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0292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Ziel MAPE &lt; 8 % erreicht: 1.51 %  ·  ×11 besser als Naive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Ergebnis: Dashboard &amp;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394960" cy="3291840"/>
          </a:xfrm>
          <a:prstGeom prst="rect">
            <a:avLst/>
          </a:prstGeom>
          <a:solidFill>
            <a:srgbClr val="1A2236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🚦  Ampelsystem für Haushalte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5029200" cy="685800"/>
          </a:xfrm>
          <a:prstGeom prst="rect">
            <a:avLst/>
          </a:prstGeom>
          <a:solidFill>
            <a:srgbClr val="1A223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715768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Günstig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9864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&lt; 15 Rp./kWh  ·  Jetzt Waschmaschine starten!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19272"/>
            <a:ext cx="5029200" cy="685800"/>
          </a:xfrm>
          <a:prstGeom prst="rect">
            <a:avLst/>
          </a:prstGeom>
          <a:solidFill>
            <a:srgbClr val="1A2236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520440"/>
            <a:ext cx="292608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107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Mittel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70332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15 – 22 Rp./kWh  ·  Normal verbrauchen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23944"/>
            <a:ext cx="5029200" cy="685800"/>
          </a:xfrm>
          <a:prstGeom prst="rect">
            <a:avLst/>
          </a:prstGeom>
          <a:solidFill>
            <a:srgbClr val="1A2236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325112"/>
            <a:ext cx="292608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21538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Teuer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0799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&gt; 22 Rp./kWh  ·  Verbrauch reduzieren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828800"/>
            <a:ext cx="5486400" cy="2011680"/>
          </a:xfrm>
          <a:prstGeom prst="rect">
            <a:avLst/>
          </a:prstGeom>
          <a:solidFill>
            <a:srgbClr val="1A223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965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🚀  REST API Endpoints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4231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42316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/api/forecast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6974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6974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/api/price-history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9718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9718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/api/predict   (JWT)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24612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2461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/api/training/trigger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52044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5204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/api/backfill/trigger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977639"/>
            <a:ext cx="5486400" cy="1143000"/>
          </a:xfrm>
          <a:prstGeom prst="rect">
            <a:avLst/>
          </a:prstGeom>
          <a:solidFill>
            <a:srgbClr val="1A223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📋  Admin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526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Echtzeit DB-Status, Airflow DAG-Übersicht, Modell-Metriken, Backfill-Trigger und Datentabellen-Explorer.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57800"/>
            <a:ext cx="11155680" cy="822960"/>
          </a:xfrm>
          <a:prstGeom prst="rect">
            <a:avLst/>
          </a:prstGeom>
          <a:solidFill>
            <a:srgbClr val="0D1526"/>
          </a:solidFill>
          <a:ln w="9525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37667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→  GET /api/forecast   |   { "gesamttarif_rp_kwh": 18.4,  "price_level": "medium",  "energiepreis_rp_kwh": 9.2,  "netzpreis_rp_kwh": 9.2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HERAUSFORDERUNGEN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Was uns gefordert 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🔌  API Rate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ENTSO-E erlaubt nur 400 Calls/Tag. Intelligentes Caching, Backfill-Management und Monitoring mit api_call_log Tabelle notwendig.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5112" y="182880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9659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📉  Datenqualität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33172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Fehlende Werte, verschiedene Zeitzonen (UTC vs. CET), unterschiedliche Granularität (15 min vs. 1 h) mussten harmonisiert werden.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4" y="182880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196596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💡  Preis-Regime-Shifts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33172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Post-Energiekrise: Preise fielen von 500+ auf &lt;50 €/MWh. Modelle trainiert auf Krisenpreisen generalisieren schlecht.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🔗  Datenintegration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6 APIs mit unterschiedlichen Formaten, Authentifizierungen und Strukturen in eine konsistente Zeitreihen-DB bringen.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5112" y="333756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3474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🏗️  Infrastruktur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384048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Docker-Compose-Stack mit Airflow, TimescaleDB, API und Frontend – reproduzierbar, stabil und wartbar zu halten war aufwändig.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333756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347472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✅  Gelöst durch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84048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Robuste Collector-Basisklasse, Retry-Logik, Rate-Limit-Monitoring, chronologischer Train-Split und regularisiertes XGBoost.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Was wir gelernt haben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🏗️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9339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Pipeline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Eine robuste, automatisierte Datenpipeline ist die Grundlage – ohne saubere Daten bringt kein Modell etwas.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182880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5192" y="199339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Zeitreihen ≠ Tabellendaten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39572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Data Leakage durch falsches Splitting ist fatal. Chronologischer Split und Walk-Forward-Validation sind zwingend.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4" y="182880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199339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Baselines nicht unterschätzen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9572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Linear Regression erreichte MAPE 9.2 % beim Preis – nahezu identisch zu XGBoost. Feature Engineering schlägt Komplexität.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3756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0215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Docker von Anfang 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0448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"Works on my machine" war kein Problem. Docker Compose machte das Onboarding neuer Teammitglieder trivial.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5112" y="333756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2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350215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Domänenwissen zählt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390448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BAFU-Wasserpegel als Feature für Wasserkraft-Einspeisung war eine domänen­spezifische Entscheidung mit messbarem Effekt.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93024" y="3337560"/>
            <a:ext cx="3657600" cy="1325880"/>
          </a:xfrm>
          <a:prstGeom prst="rect">
            <a:avLst/>
          </a:prstGeom>
          <a:solidFill>
            <a:srgbClr val="1A2236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350215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Modulare Architektur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390448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Klare Trennung ETL / DB / Modell / API / Frontend ermöglichte paralleles Arbeiten ohne Konflikte im Team.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7200"/>
            <a:ext cx="12188952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FUTURE WORK &amp; FAZIT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LSTM / Transformer für komplexere zeitliche Abhängigkeiten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6479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64792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Probabilistische Vorhersage mit Konfidenzintervallen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12264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12264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Geräte-Scheduler (Waschmaschine, EV, Wärmepumpe)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59736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59736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Push-Benachrichtigungen bei günstigen Preisfenstern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07208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807208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Ausweitung auf andere Schweizer Städte (Bern, Zürich)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54680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154680"/>
            <a:ext cx="5138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Negative Preise besser modellieren (Übereinspeisung)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7772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Fazit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417320"/>
            <a:ext cx="5303520" cy="1508760"/>
          </a:xfrm>
          <a:prstGeom prst="rect">
            <a:avLst/>
          </a:prstGeom>
          <a:solidFill>
            <a:srgbClr val="1A2236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5819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✅  Vollständige Big-Data-Plattform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0116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Von API-Kollektion über automatisiertes Training bis zum Dashboard – komplett dockerisiert und produktionsreif.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108960"/>
            <a:ext cx="5303520" cy="1508760"/>
          </a:xfrm>
          <a:prstGeom prst="rect">
            <a:avLst/>
          </a:prstGeom>
          <a:solidFill>
            <a:srgbClr val="1A2236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2735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📉  Starke Modellresultate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03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MAPE 10.6 % (Preis) · 1.51 % (Last). Model A übertrifft das Qualitätsziel von &lt; 8 % deutlich.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892040"/>
            <a:ext cx="5303520" cy="1143000"/>
          </a:xfrm>
          <a:prstGeom prst="rect">
            <a:avLst/>
          </a:prstGeom>
          <a:solidFill>
            <a:srgbClr val="0D19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5029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🏆  BigData · SmallPrice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4589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Günstig Strom verbrauchen – datengetrieben.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